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6" r:id="rId5"/>
    <p:sldId id="276" r:id="rId6"/>
    <p:sldId id="268" r:id="rId7"/>
    <p:sldId id="269" r:id="rId8"/>
    <p:sldId id="270" r:id="rId9"/>
    <p:sldId id="274" r:id="rId10"/>
    <p:sldId id="275" r:id="rId11"/>
    <p:sldId id="271" r:id="rId12"/>
    <p:sldId id="27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4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E86A4-CAFC-ABC8-AB95-FC52AC963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01D6AA-2DA7-7DCF-58B0-816E1A91C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1193C-9356-3818-9549-4228A5C2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CBF96C-E4BE-D7F5-4AD2-BC7D1511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3DE3BB-AE14-15E6-BCDA-327CD43F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9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89C16-9F8D-2BB2-54E0-67167432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4B49E-FCC8-0883-DE5D-CBA6E1ED3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F97042-D80D-1B69-F7DF-8D39208A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F99AD-756A-5995-BA4A-43C4A318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FE6DA-11E2-8627-BA5B-246BA118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689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6DB65-D475-B10C-B114-0411D142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29282B-9C0C-F75D-5183-1E561A619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3ED6B-4AA7-E989-FB1D-88BE837E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A359B4-B8B5-8BFC-927D-B8640143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7BED6-22F3-32CD-F493-2278752B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091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C6D34-A39D-0D43-2A0D-B2FA96E1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27999-9255-DFF6-8587-B11B73741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8624F5-4E59-68A0-12CE-F37E514EA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EAA8EB-B401-EB1F-36AE-FBBF8B37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F72A54-7AAD-1E49-E02D-8D1E4BD5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E2689C-6B01-02E6-FB49-F248A1CD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25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09997-DE41-4EBA-4EEC-CD3B9D85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90C7E-78A2-DB67-EFA9-172358000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6E96EC-A9B7-4C9E-B579-D5E1A13BC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3C4854-964E-EEE6-90A0-39A7AEF96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443CD1-337C-1847-7543-68C63A86B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D6F2D6-E575-E760-8058-3A6F9052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F145A8-2423-CB5D-B932-8C3DECDB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96422C-9E94-D8A9-6C22-49F3633F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74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B793F-D26A-7B38-A529-96F731B7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30C096-1BB9-307E-AAB8-E93B980C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7D4505-31F6-F40B-F0AA-E27B1D9E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F3D345-4638-D84A-C5F2-C6E17157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54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1E867-75C6-81E8-4E2B-EB9B1E10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CBCF03-70F8-7A6D-CD46-A2655DC1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770DD7-EBF6-FAA2-2AA9-44D87AF8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724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59ACC-A9B0-B314-BB80-50BF6B14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439CC-8CA7-56E8-C89F-58B8AE90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EDCF61-A9FD-1CF5-84E6-652974843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F01F60-BEA8-6AF4-84B1-BF16B748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BAE8FB-E3B6-486B-760F-3450362E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656488-47FA-6B11-0898-B97B0461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10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32FD6-1A29-8A9B-4D9F-82C5BCFF1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A5C4A9-6C43-A4CB-B570-154975B1E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E3E7C1-9486-B461-C669-C1F260228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82DBCB-4A54-AF32-5E8D-0B9A1E57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C235F4-C1B6-1333-2A51-DCF87D4E2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1BF242-7AD0-6BC6-7392-491D81AE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4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E4966-B010-115A-6374-F78FE3B7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15F7F5-EDBE-B433-1CD5-7838F2E42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2C5E3-81B4-3984-1A24-C393AFC4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D3D77F-9453-E69C-C96E-A03112B2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567911-A6E8-1C4A-90CA-7D636BC2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58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D78766-41CA-4D9E-8D52-6EDDCB6CD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93CF49-A81F-84BB-3CE9-CC52C9235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78103-B371-A898-9C79-62F77A21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435EB-8893-64B8-143F-4723EC4B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C0C878-9729-7DA7-7ADA-FF304908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8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1277A7-EB96-C399-D502-F635F018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274E60-49A4-CF9E-3812-65B1C0FAF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393A8-6AAA-1971-24FF-5E91CDAC6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EF09F-AEAE-4657-8B0C-52BAC864BC0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981B9E-317F-F5F8-345B-9349AB144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E24E5-6B17-363F-BFFC-50D6DECCD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D6C0-F316-4C0D-99D3-659942388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75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rand-tour.leggedrobotics.com/datase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12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microsoft.com/office/2007/relationships/hdphoto" Target="../media/hdphoto2.wdp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ECF16-E2A7-FE22-773B-436C0CC4B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57" y="407970"/>
            <a:ext cx="10989129" cy="3367994"/>
          </a:xfrm>
          <a:noFill/>
        </p:spPr>
        <p:txBody>
          <a:bodyPr>
            <a:norm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 Filtering Approaches for 3D Localization of Quadruped Robots on the Grand Tour Dataset</a:t>
            </a:r>
            <a:endParaRPr lang="zh-CN" altLang="en-US" b="1" dirty="0">
              <a:solidFill>
                <a:schemeClr val="accent4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95C2F7-3A29-86A1-61B6-C1FC7BFF8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603845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7</a:t>
            </a:r>
            <a:endParaRPr lang="zh-CN" altLang="en-US" sz="3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EFF830C-20FB-2B0D-FE4B-4CE471707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8E6B44A-8173-481A-EE0A-E6306D24F719}"/>
              </a:ext>
            </a:extLst>
          </p:cNvPr>
          <p:cNvSpPr txBox="1"/>
          <p:nvPr/>
        </p:nvSpPr>
        <p:spPr>
          <a:xfrm>
            <a:off x="4027251" y="5797685"/>
            <a:ext cx="490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Hao Duan,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Xiuping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Zexing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Junxian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Wang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4463C-BF8F-3A37-1803-EFC05FF1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95B12-F8F3-088D-FF82-2AD2687AF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184" y="758613"/>
            <a:ext cx="8271631" cy="974392"/>
          </a:xfrm>
          <a:noFill/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54E0B86-9764-15C4-6ACE-E13BB7A4C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F2B332C-BC2A-31B2-B580-751C03D63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090" y="5890619"/>
            <a:ext cx="1848702" cy="7056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E2253A-07D5-ED59-B9B2-83312CA5FAAA}"/>
              </a:ext>
            </a:extLst>
          </p:cNvPr>
          <p:cNvSpPr txBox="1"/>
          <p:nvPr/>
        </p:nvSpPr>
        <p:spPr>
          <a:xfrm>
            <a:off x="1523999" y="1910080"/>
            <a:ext cx="4985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State estimation of Quadruped Robots in different complex environments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D94317-6EB0-53D5-7660-363954C0908E}"/>
              </a:ext>
            </a:extLst>
          </p:cNvPr>
          <p:cNvSpPr txBox="1"/>
          <p:nvPr/>
        </p:nvSpPr>
        <p:spPr>
          <a:xfrm>
            <a:off x="1523999" y="2689489"/>
            <a:ext cx="48732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Issues: terrain irregularities, foot slipping, and sensor noise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B85B3E-E531-0180-9600-B6C8EF6C3BFD}"/>
              </a:ext>
            </a:extLst>
          </p:cNvPr>
          <p:cNvSpPr txBox="1"/>
          <p:nvPr/>
        </p:nvSpPr>
        <p:spPr>
          <a:xfrm>
            <a:off x="7572588" y="1911613"/>
            <a:ext cx="3406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Equipment: Quadruped Robots</a:t>
            </a: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CA5ACD-7109-C8E9-2F81-660122AB6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642" y="3397375"/>
            <a:ext cx="2880000" cy="19395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A301F5A-74CB-0414-6219-EC553D5DD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206" y="208151"/>
            <a:ext cx="1669794" cy="16557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CD0D4DB-ABAA-87D1-5F79-22BB2D695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2642" y="327014"/>
            <a:ext cx="2216213" cy="146993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ED85774-D0CE-3F61-EB49-7AEF505A5D3E}"/>
              </a:ext>
            </a:extLst>
          </p:cNvPr>
          <p:cNvSpPr txBox="1"/>
          <p:nvPr/>
        </p:nvSpPr>
        <p:spPr>
          <a:xfrm>
            <a:off x="7766322" y="2638357"/>
            <a:ext cx="2465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</a:t>
            </a:r>
            <a:r>
              <a:rPr lang="en-US" altLang="zh-CN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GrandTour</a:t>
            </a:r>
            <a:r>
              <a:rPr lang="en-US" altLang="zh-CN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ANYmal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Grand Tour</a:t>
            </a:r>
            <a:endParaRPr lang="zh-CN" altLang="en-US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71D9B4-F065-06F2-7FF5-E98A4DE54202}"/>
              </a:ext>
            </a:extLst>
          </p:cNvPr>
          <p:cNvSpPr txBox="1"/>
          <p:nvPr/>
        </p:nvSpPr>
        <p:spPr>
          <a:xfrm>
            <a:off x="6752222" y="3816204"/>
            <a:ext cx="4873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 Environments:ETH-1, SPX-1, and SNOW-1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93E7C65-372B-BC98-2BC9-DFB2E2A4F0DC}"/>
              </a:ext>
            </a:extLst>
          </p:cNvPr>
          <p:cNvSpPr txBox="1"/>
          <p:nvPr/>
        </p:nvSpPr>
        <p:spPr>
          <a:xfrm>
            <a:off x="6817361" y="4633689"/>
            <a:ext cx="4917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Frameworks: EKF,UKF,PF and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InEKF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16F66E-9FD6-F198-75DA-FE5566676A6E}"/>
              </a:ext>
            </a:extLst>
          </p:cNvPr>
          <p:cNvSpPr txBox="1"/>
          <p:nvPr/>
        </p:nvSpPr>
        <p:spPr>
          <a:xfrm>
            <a:off x="1523999" y="5336967"/>
            <a:ext cx="30292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10x Cameras</a:t>
            </a: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3x </a:t>
            </a:r>
            <a:r>
              <a:rPr lang="en-US" altLang="zh-C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LiDARs</a:t>
            </a:r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8x IMUs</a:t>
            </a: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6x Depth Cameras</a:t>
            </a: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12x Actuator</a:t>
            </a: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49Missions</a:t>
            </a: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Ground Truth Poses</a:t>
            </a:r>
            <a:endParaRPr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88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5C016-3E63-F9BD-C5D6-E8E9399C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B4A4C8-1BB2-70CF-98F9-49C058375F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06" b="96217" l="4505" r="97952">
                        <a14:foregroundMark x1="22277" y1="8793" x2="21458" y2="8998"/>
                        <a14:foregroundMark x1="21458" y1="8998" x2="22686" y2="8282"/>
                        <a14:foregroundMark x1="68632" y1="67587" x2="67731" y2="67178"/>
                        <a14:foregroundMark x1="71581" y1="76278" x2="70270" y2="78630"/>
                        <a14:foregroundMark x1="78624" y1="70143" x2="84695" y2="71604"/>
                        <a14:foregroundMark x1="87131" y1="73443" x2="90254" y2="76483"/>
                        <a14:foregroundMark x1="90254" y1="76483" x2="90745" y2="76585"/>
                        <a14:foregroundMark x1="28829" y1="33129" x2="19410" y2="34969"/>
                        <a14:foregroundMark x1="13841" y1="31391" x2="11302" y2="34356"/>
                        <a14:foregroundMark x1="14496" y1="13906" x2="25389" y2="21779"/>
                        <a14:foregroundMark x1="21949" y1="9714" x2="23669" y2="10225"/>
                        <a14:foregroundMark x1="9582" y1="11759" x2="8927" y2="15746"/>
                        <a14:foregroundMark x1="20966" y1="80061" x2="20854" y2="80256"/>
                        <a14:foregroundMark x1="17117" y1="75051" x2="14578" y2="77607"/>
                        <a14:foregroundMark x1="62080" y1="18200" x2="63964" y2="17791"/>
                        <a14:foregroundMark x1="31532" y1="22086" x2="33170" y2="21881"/>
                        <a14:foregroundMark x1="8190" y1="55521" x2="7699" y2="57055"/>
                        <a14:foregroundMark x1="8272" y1="33436" x2="7699" y2="33538"/>
                        <a14:foregroundMark x1="10483" y1="17587" x2="9992" y2="17894"/>
                        <a14:foregroundMark x1="9255" y1="23824" x2="10729" y2="23517"/>
                        <a14:foregroundMark x1="20557" y1="79959" x2="20550" y2="80193"/>
                        <a14:foregroundMark x1="20208" y1="89153" x2="20066" y2="92536"/>
                        <a14:foregroundMark x1="9705" y1="85581" x2="6634" y2="89980"/>
                        <a14:foregroundMark x1="65100" y1="80195" x2="65520" y2="80777"/>
                        <a14:foregroundMark x1="60278" y1="73517" x2="63488" y2="77962"/>
                        <a14:foregroundMark x1="65520" y1="80777" x2="71007" y2="89059"/>
                        <a14:foregroundMark x1="70516" y1="88753" x2="73137" y2="93149"/>
                        <a14:foregroundMark x1="51843" y1="67382" x2="50205" y2="68200"/>
                        <a14:foregroundMark x1="90500" y1="76789" x2="94922" y2="80368"/>
                        <a14:foregroundMark x1="95004" y1="79243" x2="96478" y2="81084"/>
                        <a14:foregroundMark x1="97543" y1="80266" x2="95741" y2="81288"/>
                        <a14:foregroundMark x1="96478" y1="80368" x2="95168" y2="81391"/>
                        <a14:foregroundMark x1="95741" y1="81084" x2="96069" y2="82924"/>
                        <a14:foregroundMark x1="96069" y1="80777" x2="96970" y2="82311"/>
                        <a14:foregroundMark x1="96560" y1="80879" x2="97297" y2="80675"/>
                        <a14:foregroundMark x1="96970" y1="80675" x2="97379" y2="80266"/>
                        <a14:foregroundMark x1="10319" y1="14928" x2="10156" y2="18200"/>
                        <a14:foregroundMark x1="7699" y1="34356" x2="6224" y2="33333"/>
                        <a14:foregroundMark x1="8108" y1="40389" x2="5733" y2="40900"/>
                        <a14:foregroundMark x1="8272" y1="17076" x2="9091" y2="17382"/>
                        <a14:foregroundMark x1="8845" y1="26074" x2="8354" y2="23517"/>
                        <a14:foregroundMark x1="66257" y1="82720" x2="69042" y2="86503"/>
                        <a14:foregroundMark x1="65930" y1="83640" x2="68141" y2="86196"/>
                        <a14:foregroundMark x1="68059" y1="85787" x2="69861" y2="89571"/>
                        <a14:foregroundMark x1="73055" y1="93252" x2="75102" y2="94274"/>
                        <a14:foregroundMark x1="71335" y1="75460" x2="72400" y2="79039"/>
                        <a14:foregroundMark x1="71581" y1="44785" x2="72973" y2="51227"/>
                        <a14:foregroundMark x1="72891" y1="49387" x2="73464" y2="46728"/>
                        <a14:foregroundMark x1="46519" y1="32515" x2="47338" y2="33231"/>
                        <a14:foregroundMark x1="46847" y1="32106" x2="47502" y2="31595"/>
                        <a14:foregroundMark x1="44062" y1="30675" x2="42506" y2="30164"/>
                        <a14:foregroundMark x1="53481" y1="35685" x2="52580" y2="32924"/>
                        <a14:foregroundMark x1="65602" y1="21677" x2="66667" y2="22086"/>
                        <a14:foregroundMark x1="66830" y1="17485" x2="66994" y2="20961"/>
                        <a14:foregroundMark x1="59459" y1="23824" x2="58886" y2="23824"/>
                        <a14:foregroundMark x1="59459" y1="23824" x2="57903" y2="24233"/>
                        <a14:foregroundMark x1="59705" y1="24540" x2="60033" y2="26892"/>
                        <a14:foregroundMark x1="30221" y1="23313" x2="29812" y2="21779"/>
                        <a14:foregroundMark x1="17531" y1="22598" x2="17363" y2="21166"/>
                        <a14:foregroundMark x1="18428" y1="30266" x2="18128" y2="27700"/>
                        <a14:foregroundMark x1="17363" y1="21166" x2="18106" y2="24117"/>
                        <a14:foregroundMark x1="33088" y1="25153" x2="36665" y2="25658"/>
                        <a14:foregroundMark x1="33088" y1="21063" x2="32269" y2="14519"/>
                        <a14:foregroundMark x1="32351" y1="15031" x2="32187" y2="12679"/>
                        <a14:foregroundMark x1="72154" y1="63599" x2="76085" y2="65133"/>
                        <a14:foregroundMark x1="76495" y1="66360" x2="76822" y2="66258"/>
                        <a14:foregroundMark x1="73628" y1="94683" x2="75348" y2="96012"/>
                        <a14:foregroundMark x1="75184" y1="96012" x2="74120" y2="94990"/>
                        <a14:foregroundMark x1="72973" y1="95399" x2="68468" y2="88548"/>
                        <a14:foregroundMark x1="72973" y1="93149" x2="67568" y2="87219"/>
                        <a14:foregroundMark x1="67568" y1="87219" x2="67322" y2="86810"/>
                        <a14:foregroundMark x1="94922" y1="80266" x2="96396" y2="82618"/>
                        <a14:foregroundMark x1="97215" y1="82106" x2="94840" y2="81186"/>
                        <a14:foregroundMark x1="96069" y1="81595" x2="91728" y2="79243"/>
                        <a14:foregroundMark x1="93530" y1="80470" x2="87224" y2="75153"/>
                        <a14:foregroundMark x1="8845" y1="4806" x2="9582" y2="4908"/>
                        <a14:foregroundMark x1="18919" y1="93967" x2="19984" y2="92434"/>
                        <a14:foregroundMark x1="20557" y1="94479" x2="20311" y2="94274"/>
                        <a14:foregroundMark x1="6634" y1="90184" x2="4505" y2="91922"/>
                        <a14:foregroundMark x1="75184" y1="96012" x2="73956" y2="96319"/>
                        <a14:foregroundMark x1="97952" y1="79550" x2="96151" y2="83129"/>
                        <a14:foregroundMark x1="9091" y1="20143" x2="9500" y2="21677"/>
                        <a14:foregroundMark x1="13677" y1="17280" x2="14414" y2="22086"/>
                        <a14:foregroundMark x1="8026" y1="23415" x2="7862" y2="16258"/>
                        <a14:foregroundMark x1="34889" y1="62781" x2="33006" y2="59714"/>
                        <a14:foregroundMark x1="19994" y1="85201" x2="19916" y2="87916"/>
                        <a14:foregroundMark x1="20044" y1="83438" x2="20039" y2="83612"/>
                        <a14:foregroundMark x1="74895" y1="93870" x2="73773" y2="95447"/>
                        <a14:foregroundMark x1="73773" y1="95447" x2="75175" y2="95096"/>
                        <a14:backgroundMark x1="46274" y1="11043" x2="46274" y2="11043"/>
                        <a14:backgroundMark x1="46274" y1="11043" x2="37838" y2="10941"/>
                        <a14:backgroundMark x1="44472" y1="9611" x2="22031" y2="5317"/>
                        <a14:backgroundMark x1="45209" y1="26278" x2="45209" y2="26278"/>
                        <a14:backgroundMark x1="39640" y1="24540" x2="46683" y2="26278"/>
                        <a14:backgroundMark x1="45618" y1="26585" x2="50532" y2="28528"/>
                        <a14:backgroundMark x1="52907" y1="29346" x2="50532" y2="29346"/>
                        <a14:backgroundMark x1="17199" y1="24847" x2="17936" y2="26074"/>
                        <a14:backgroundMark x1="17363" y1="24847" x2="18346" y2="26176"/>
                        <a14:backgroundMark x1="17690" y1="25562" x2="17445" y2="26483"/>
                        <a14:backgroundMark x1="17690" y1="25460" x2="17199" y2="23415"/>
                        <a14:backgroundMark x1="17609" y1="24744" x2="18100" y2="24438"/>
                        <a14:backgroundMark x1="17281" y1="25971" x2="17936" y2="26892"/>
                        <a14:backgroundMark x1="18346" y1="25256" x2="17772" y2="24029"/>
                        <a14:backgroundMark x1="18428" y1="21268" x2="18428" y2="21268"/>
                        <a14:backgroundMark x1="18591" y1="26789" x2="17690" y2="26892"/>
                        <a14:backgroundMark x1="12121" y1="20143" x2="11220" y2="20654"/>
                        <a14:backgroundMark x1="11957" y1="20041" x2="11220" y2="21984"/>
                        <a14:backgroundMark x1="11466" y1="21166" x2="11466" y2="21370"/>
                        <a14:backgroundMark x1="11794" y1="19325" x2="12121" y2="18200"/>
                        <a14:backgroundMark x1="27273" y1="19427" x2="26126" y2="19018"/>
                        <a14:backgroundMark x1="26781" y1="20041" x2="26208" y2="21166"/>
                        <a14:backgroundMark x1="27355" y1="21063" x2="27355" y2="17996"/>
                        <a14:backgroundMark x1="27764" y1="20143" x2="27764" y2="20143"/>
                        <a14:backgroundMark x1="27928" y1="20041" x2="27928" y2="20041"/>
                        <a14:backgroundMark x1="27928" y1="20041" x2="27764" y2="20041"/>
                        <a14:backgroundMark x1="27109" y1="19018" x2="26536" y2="17076"/>
                        <a14:backgroundMark x1="27191" y1="17996" x2="26536" y2="17485"/>
                        <a14:backgroundMark x1="39148" y1="25869" x2="36773" y2="25869"/>
                        <a14:backgroundMark x1="37920" y1="25256" x2="36527" y2="25869"/>
                        <a14:backgroundMark x1="86732" y1="72393" x2="85504" y2="71472"/>
                        <a14:backgroundMark x1="86077" y1="72290" x2="84930" y2="71268"/>
                        <a14:backgroundMark x1="85749" y1="72086" x2="84603" y2="71370"/>
                        <a14:backgroundMark x1="71826" y1="81902" x2="68796" y2="81288"/>
                        <a14:backgroundMark x1="63718" y1="65235" x2="63882" y2="64622"/>
                        <a14:backgroundMark x1="64210" y1="64315" x2="63882" y2="64928"/>
                        <a14:backgroundMark x1="63391" y1="66360" x2="63227" y2="67894"/>
                        <a14:backgroundMark x1="64210" y1="64928" x2="63554" y2="62474"/>
                        <a14:backgroundMark x1="63391" y1="74029" x2="66339" y2="79243"/>
                        <a14:backgroundMark x1="63309" y1="73313" x2="63554" y2="68507"/>
                        <a14:backgroundMark x1="63882" y1="62372" x2="64947" y2="62065"/>
                        <a14:backgroundMark x1="74529" y1="50818" x2="74038" y2="52658"/>
                        <a14:backgroundMark x1="18100" y1="80879" x2="18264" y2="78016"/>
                        <a14:backgroundMark x1="18673" y1="76483" x2="10893" y2="86708"/>
                        <a14:backgroundMark x1="19656" y1="75153" x2="18673" y2="76585"/>
                        <a14:backgroundMark x1="23587" y1="80573" x2="21294" y2="89571"/>
                        <a14:backgroundMark x1="23260" y1="81902" x2="23833" y2="80777"/>
                        <a14:backgroundMark x1="22359" y1="81595" x2="24324" y2="80573"/>
                        <a14:backgroundMark x1="22768" y1="80266" x2="22523" y2="80061"/>
                        <a14:backgroundMark x1="21867" y1="82720" x2="21855" y2="83092"/>
                        <a14:backgroundMark x1="28471" y1="87741" x2="30575" y2="88792"/>
                        <a14:backgroundMark x1="18233" y1="83363" x2="18093" y2="84939"/>
                        <a14:backgroundMark x1="18373" y1="81611" x2="18233" y2="83187"/>
                        <a14:backgroundMark x1="18934" y1="79860" x2="18654" y2="81961"/>
                        <a14:backgroundMark x1="23282" y1="85114" x2="23142" y2="80736"/>
                        <a14:backgroundMark x1="23562" y1="81611" x2="23001" y2="80210"/>
                        <a14:backgroundMark x1="23142" y1="80736" x2="23001" y2="79159"/>
                        <a14:backgroundMark x1="22581" y1="82137" x2="22440" y2="807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581">
            <a:off x="3101136" y="3402559"/>
            <a:ext cx="2963397" cy="23736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79E6DE-5EFB-4939-3110-F21545036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353" b="98082" l="8286" r="89831">
                        <a14:foregroundMark x1="25989" y1="12710" x2="50847" y2="18465"/>
                        <a14:foregroundMark x1="58380" y1="12710" x2="21846" y2="11990"/>
                        <a14:foregroundMark x1="24105" y1="12470" x2="70810" y2="15588"/>
                        <a14:foregroundMark x1="70810" y1="15588" x2="79284" y2="14388"/>
                        <a14:foregroundMark x1="76648" y1="13669" x2="80979" y2="18945"/>
                        <a14:foregroundMark x1="81356" y1="16307" x2="82058" y2="23122"/>
                        <a14:foregroundMark x1="81159" y1="33753" x2="78343" y2="76978"/>
                        <a14:foregroundMark x1="79849" y1="72662" x2="78908" y2="88249"/>
                        <a14:foregroundMark x1="79473" y1="79616" x2="80791" y2="82014"/>
                        <a14:foregroundMark x1="81356" y1="75300" x2="80603" y2="84652"/>
                        <a14:foregroundMark x1="13936" y1="86571" x2="13867" y2="88254"/>
                        <a14:foregroundMark x1="12333" y1="58162" x2="12262" y2="57138"/>
                        <a14:foregroundMark x1="13183" y1="70504" x2="12530" y2="61021"/>
                        <a14:foregroundMark x1="11654" y1="16071" x2="11676" y2="14388"/>
                        <a14:foregroundMark x1="11864" y1="11990" x2="11670" y2="16555"/>
                        <a14:foregroundMark x1="82718" y1="85056" x2="83239" y2="90647"/>
                        <a14:foregroundMark x1="81921" y1="76499" x2="82147" y2="78923"/>
                        <a14:foregroundMark x1="17891" y1="90647" x2="17570" y2="90660"/>
                        <a14:foregroundMark x1="53166" y1="92326" x2="64972" y2="91127"/>
                        <a14:foregroundMark x1="64972" y1="91127" x2="71235" y2="92220"/>
                        <a14:foregroundMark x1="84408" y1="88368" x2="84413" y2="88081"/>
                        <a14:foregroundMark x1="84380" y1="89987" x2="84386" y2="89668"/>
                        <a14:foregroundMark x1="81733" y1="54436" x2="82424" y2="59145"/>
                        <a14:foregroundMark x1="84026" y1="89161" x2="83948" y2="89879"/>
                        <a14:foregroundMark x1="84141" y1="88117" x2="84091" y2="88570"/>
                        <a14:backgroundMark x1="9793" y1="96643" x2="19774" y2="97122"/>
                        <a14:backgroundMark x1="19774" y1="97122" x2="38983" y2="97122"/>
                        <a14:backgroundMark x1="38983" y1="97122" x2="53296" y2="97122"/>
                        <a14:backgroundMark x1="53296" y1="97122" x2="79473" y2="96163"/>
                        <a14:backgroundMark x1="79473" y1="96163" x2="87006" y2="97122"/>
                        <a14:backgroundMark x1="89454" y1="92806" x2="87194" y2="92806"/>
                        <a14:backgroundMark x1="88324" y1="91367" x2="86441" y2="92566"/>
                        <a14:backgroundMark x1="86064" y1="86091" x2="86252" y2="78177"/>
                        <a14:backgroundMark x1="85876" y1="76019" x2="86817" y2="87770"/>
                        <a14:backgroundMark x1="86817" y1="93046" x2="86817" y2="91367"/>
                        <a14:backgroundMark x1="87006" y1="90647" x2="86441" y2="94245"/>
                        <a14:backgroundMark x1="86064" y1="78417" x2="85687" y2="72422"/>
                        <a14:backgroundMark x1="84934" y1="23022" x2="85499" y2="49400"/>
                        <a14:backgroundMark x1="86629" y1="44844" x2="86064" y2="85132"/>
                        <a14:backgroundMark x1="7533" y1="12710" x2="9040" y2="57314"/>
                        <a14:backgroundMark x1="9040" y1="57314" x2="7533" y2="66667"/>
                        <a14:backgroundMark x1="10358" y1="57554" x2="9605" y2="57554"/>
                        <a14:backgroundMark x1="54614" y1="95444" x2="48399" y2="94484"/>
                        <a14:backgroundMark x1="84557" y1="93285" x2="79473" y2="94484"/>
                        <a14:backgroundMark x1="18832" y1="93525" x2="6591" y2="90168"/>
                        <a14:backgroundMark x1="8475" y1="64748" x2="8475" y2="899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9" y="2345821"/>
            <a:ext cx="1657779" cy="1301872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DBA3797-2537-93F8-DEB9-6AB586ABA0F1}"/>
              </a:ext>
            </a:extLst>
          </p:cNvPr>
          <p:cNvCxnSpPr>
            <a:cxnSpLocks/>
          </p:cNvCxnSpPr>
          <p:nvPr/>
        </p:nvCxnSpPr>
        <p:spPr>
          <a:xfrm flipH="1" flipV="1">
            <a:off x="1562692" y="3187063"/>
            <a:ext cx="1761774" cy="74240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197C608-A99D-FBEC-A61C-5367EA9018FF}"/>
              </a:ext>
            </a:extLst>
          </p:cNvPr>
          <p:cNvSpPr txBox="1"/>
          <p:nvPr/>
        </p:nvSpPr>
        <p:spPr>
          <a:xfrm>
            <a:off x="287207" y="2189776"/>
            <a:ext cx="150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Hesai</a:t>
            </a:r>
            <a:r>
              <a:rPr lang="en-US" altLang="zh-C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XT-32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D5408D-C2EC-DB49-2619-4A3D6331B945}"/>
              </a:ext>
            </a:extLst>
          </p:cNvPr>
          <p:cNvSpPr txBox="1"/>
          <p:nvPr/>
        </p:nvSpPr>
        <p:spPr>
          <a:xfrm>
            <a:off x="253256" y="4684004"/>
            <a:ext cx="150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STIM320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FCEC465-038A-7F19-41B1-F7D5CE0CD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873" y="4947967"/>
            <a:ext cx="1970515" cy="1231572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D519B2B-38E6-253F-1C34-D90CC1F99EA5}"/>
              </a:ext>
            </a:extLst>
          </p:cNvPr>
          <p:cNvCxnSpPr>
            <a:cxnSpLocks/>
          </p:cNvCxnSpPr>
          <p:nvPr/>
        </p:nvCxnSpPr>
        <p:spPr>
          <a:xfrm flipH="1">
            <a:off x="1562692" y="4263480"/>
            <a:ext cx="1878614" cy="12658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37586E5-89AB-0BD0-27FC-47E4534C7556}"/>
              </a:ext>
            </a:extLst>
          </p:cNvPr>
          <p:cNvSpPr/>
          <p:nvPr/>
        </p:nvSpPr>
        <p:spPr>
          <a:xfrm>
            <a:off x="6567658" y="2210790"/>
            <a:ext cx="3320248" cy="395342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D44630-CB34-345B-2CB1-29DABC561EF8}"/>
              </a:ext>
            </a:extLst>
          </p:cNvPr>
          <p:cNvSpPr/>
          <p:nvPr/>
        </p:nvSpPr>
        <p:spPr>
          <a:xfrm>
            <a:off x="7531905" y="4616109"/>
            <a:ext cx="1391754" cy="5948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7523B2-19EF-E555-AA77-B689EC5B4420}"/>
              </a:ext>
            </a:extLst>
          </p:cNvPr>
          <p:cNvSpPr/>
          <p:nvPr/>
        </p:nvSpPr>
        <p:spPr>
          <a:xfrm>
            <a:off x="7531905" y="3164097"/>
            <a:ext cx="1391754" cy="5948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Correction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9C8AC2-B134-EC65-6491-54D60AE388EA}"/>
              </a:ext>
            </a:extLst>
          </p:cNvPr>
          <p:cNvSpPr/>
          <p:nvPr/>
        </p:nvSpPr>
        <p:spPr>
          <a:xfrm>
            <a:off x="3324466" y="2371890"/>
            <a:ext cx="1391754" cy="5948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ICP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45797BA-9673-7830-6805-A1303D9B2260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562692" y="2669292"/>
            <a:ext cx="176177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AD80C81-725B-4010-DF4E-60E270AF05B3}"/>
              </a:ext>
            </a:extLst>
          </p:cNvPr>
          <p:cNvSpPr txBox="1"/>
          <p:nvPr/>
        </p:nvSpPr>
        <p:spPr>
          <a:xfrm>
            <a:off x="1560949" y="1464731"/>
            <a:ext cx="176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LiDAR Scan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ACAB1D0-94AA-739A-094E-0AAE57D06A2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448" y="1776629"/>
            <a:ext cx="1316777" cy="85663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903D34C3-EE22-09B6-CC50-BAFD401D2D76}"/>
              </a:ext>
            </a:extLst>
          </p:cNvPr>
          <p:cNvCxnSpPr>
            <a:cxnSpLocks/>
            <a:stCxn id="20" idx="3"/>
            <a:endCxn id="18" idx="0"/>
          </p:cNvCxnSpPr>
          <p:nvPr/>
        </p:nvCxnSpPr>
        <p:spPr>
          <a:xfrm>
            <a:off x="4716220" y="2669292"/>
            <a:ext cx="3511562" cy="494805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03EAC82-1A83-5A04-2ABE-D2EF6590EB5A}"/>
              </a:ext>
            </a:extLst>
          </p:cNvPr>
          <p:cNvSpPr txBox="1"/>
          <p:nvPr/>
        </p:nvSpPr>
        <p:spPr>
          <a:xfrm>
            <a:off x="4646135" y="2384845"/>
            <a:ext cx="199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Pose Measurement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E8E38A3B-9833-AEBD-2AF2-07E8C6E49913}"/>
              </a:ext>
            </a:extLst>
          </p:cNvPr>
          <p:cNvCxnSpPr>
            <a:cxnSpLocks/>
            <a:endCxn id="17" idx="2"/>
          </p:cNvCxnSpPr>
          <p:nvPr/>
        </p:nvCxnSpPr>
        <p:spPr>
          <a:xfrm rot="5400000" flipH="1" flipV="1">
            <a:off x="4116810" y="2034111"/>
            <a:ext cx="934170" cy="7287774"/>
          </a:xfrm>
          <a:prstGeom prst="bentConnector3">
            <a:avLst>
              <a:gd name="adj1" fmla="val -24471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AAFC87D2-7325-3841-BE56-23CBE4C40A81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flipV="1">
            <a:off x="8923659" y="3461499"/>
            <a:ext cx="12700" cy="1452012"/>
          </a:xfrm>
          <a:prstGeom prst="curvedConnector3">
            <a:avLst>
              <a:gd name="adj1" fmla="val 5295142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7966A1DA-89E5-836C-BD9F-E5FF777FFAF4}"/>
              </a:ext>
            </a:extLst>
          </p:cNvPr>
          <p:cNvCxnSpPr>
            <a:cxnSpLocks/>
            <a:stCxn id="18" idx="1"/>
            <a:endCxn id="17" idx="1"/>
          </p:cNvCxnSpPr>
          <p:nvPr/>
        </p:nvCxnSpPr>
        <p:spPr>
          <a:xfrm rot="10800000" flipV="1">
            <a:off x="7531905" y="3461499"/>
            <a:ext cx="12700" cy="1452012"/>
          </a:xfrm>
          <a:prstGeom prst="curvedConnector3">
            <a:avLst>
              <a:gd name="adj1" fmla="val 5434953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06FA3DF-D0BA-53B8-E731-89BD03598EBC}"/>
                  </a:ext>
                </a:extLst>
              </p:cNvPr>
              <p:cNvSpPr txBox="1"/>
              <p:nvPr/>
            </p:nvSpPr>
            <p:spPr>
              <a:xfrm>
                <a:off x="3161034" y="6472550"/>
                <a:ext cx="30119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(IMU measurements)</a:t>
                </a:r>
                <a:endParaRPr lang="zh-CN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06FA3DF-D0BA-53B8-E731-89BD03598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34" y="6472550"/>
                <a:ext cx="3011915" cy="276999"/>
              </a:xfrm>
              <a:prstGeom prst="rect">
                <a:avLst/>
              </a:prstGeom>
              <a:blipFill>
                <a:blip r:embed="rId8"/>
                <a:stretch>
                  <a:fillRect l="-2024" t="-28889" r="-2632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BBB2DD0B-0AE5-89F7-74FD-274033DFCE64}"/>
              </a:ext>
            </a:extLst>
          </p:cNvPr>
          <p:cNvSpPr txBox="1"/>
          <p:nvPr/>
        </p:nvSpPr>
        <p:spPr>
          <a:xfrm>
            <a:off x="7047445" y="1849422"/>
            <a:ext cx="236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Bayesian Filtering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65337A6D-700D-1560-3437-EAF737D7ED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27" y="1318835"/>
            <a:ext cx="1154682" cy="72383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ACD4A83-1864-DD6F-0B74-96C910AE15C6}"/>
              </a:ext>
            </a:extLst>
          </p:cNvPr>
          <p:cNvCxnSpPr>
            <a:cxnSpLocks/>
            <a:stCxn id="63" idx="2"/>
            <a:endCxn id="20" idx="0"/>
          </p:cNvCxnSpPr>
          <p:nvPr/>
        </p:nvCxnSpPr>
        <p:spPr>
          <a:xfrm>
            <a:off x="4018568" y="2042666"/>
            <a:ext cx="1775" cy="3292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5B9AAE8-3672-D976-D060-D3B1CBA7379D}"/>
              </a:ext>
            </a:extLst>
          </p:cNvPr>
          <p:cNvSpPr txBox="1"/>
          <p:nvPr/>
        </p:nvSpPr>
        <p:spPr>
          <a:xfrm>
            <a:off x="3126815" y="1025455"/>
            <a:ext cx="176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Point Cloud Map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23EC6930-E032-285E-0AE5-5411C1C1E85F}"/>
                  </a:ext>
                </a:extLst>
              </p:cNvPr>
              <p:cNvSpPr txBox="1"/>
              <p:nvPr/>
            </p:nvSpPr>
            <p:spPr>
              <a:xfrm>
                <a:off x="8881093" y="4014591"/>
                <a:ext cx="671209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23EC6930-E032-285E-0AE5-5411C1C1E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093" y="4014591"/>
                <a:ext cx="671209" cy="301878"/>
              </a:xfrm>
              <a:prstGeom prst="rect">
                <a:avLst/>
              </a:prstGeom>
              <a:blipFill>
                <a:blip r:embed="rId10"/>
                <a:stretch>
                  <a:fillRect l="-10000" t="-22449" r="-363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16328C91-30D0-212A-343F-04A46267EEEE}"/>
                  </a:ext>
                </a:extLst>
              </p:cNvPr>
              <p:cNvSpPr txBox="1"/>
              <p:nvPr/>
            </p:nvSpPr>
            <p:spPr>
              <a:xfrm>
                <a:off x="6904799" y="4041247"/>
                <a:ext cx="453586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16328C91-30D0-212A-343F-04A46267E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799" y="4041247"/>
                <a:ext cx="453586" cy="301878"/>
              </a:xfrm>
              <a:prstGeom prst="rect">
                <a:avLst/>
              </a:prstGeom>
              <a:blipFill>
                <a:blip r:embed="rId11"/>
                <a:stretch>
                  <a:fillRect l="-13514" t="-22449" r="-2567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图形 72">
            <a:extLst>
              <a:ext uri="{FF2B5EF4-FFF2-40B4-BE49-F238E27FC236}">
                <a16:creationId xmlns:a16="http://schemas.microsoft.com/office/drawing/2014/main" id="{C642B1B2-B056-D7A5-E5AD-9B2FDD3BF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18643" y="1988011"/>
            <a:ext cx="2415736" cy="1813769"/>
          </a:xfrm>
          <a:prstGeom prst="rect">
            <a:avLst/>
          </a:prstGeom>
        </p:spPr>
      </p:pic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5FC7A145-0AA7-7F53-8CC3-2C5BCF433F7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9887906" y="4014591"/>
            <a:ext cx="1238605" cy="172914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DB1A5BC9-BF56-2513-4809-2A26CE7E631F}"/>
              </a:ext>
            </a:extLst>
          </p:cNvPr>
          <p:cNvSpPr txBox="1"/>
          <p:nvPr/>
        </p:nvSpPr>
        <p:spPr>
          <a:xfrm>
            <a:off x="10197060" y="1618566"/>
            <a:ext cx="176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3D Trajectory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5E397B3-D453-E9F2-6DAE-8386F594810F}"/>
              </a:ext>
            </a:extLst>
          </p:cNvPr>
          <p:cNvSpPr txBox="1"/>
          <p:nvPr/>
        </p:nvSpPr>
        <p:spPr>
          <a:xfrm>
            <a:off x="3209300" y="5547672"/>
            <a:ext cx="236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4874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ANYmal</a:t>
            </a:r>
            <a:r>
              <a:rPr lang="en-US" altLang="zh-CN" b="1" dirty="0">
                <a:solidFill>
                  <a:srgbClr val="4874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endParaRPr lang="zh-CN" altLang="en-US" b="1" dirty="0">
              <a:solidFill>
                <a:srgbClr val="4874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39E605-0123-EFB4-3145-2E29A2687E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144" y="6274350"/>
            <a:ext cx="1675120" cy="3366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1E79F3-B64C-8210-C18A-5E6F3101731E}"/>
              </a:ext>
            </a:extLst>
          </p:cNvPr>
          <p:cNvSpPr txBox="1"/>
          <p:nvPr/>
        </p:nvSpPr>
        <p:spPr>
          <a:xfrm>
            <a:off x="3824626" y="209638"/>
            <a:ext cx="6160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25693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8B6ED-8E15-E932-C99D-8AF1223F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90C34-775E-A905-0FDE-1D42ACCA3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4235" y="974329"/>
            <a:ext cx="4878191" cy="1174889"/>
          </a:xfrm>
          <a:noFill/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EKF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FDE28EE-7810-AA2A-FA64-4009E798A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F7A1281-3085-3EBF-886C-21F31B15EC06}"/>
              </a:ext>
            </a:extLst>
          </p:cNvPr>
          <p:cNvSpPr txBox="1"/>
          <p:nvPr/>
        </p:nvSpPr>
        <p:spPr>
          <a:xfrm>
            <a:off x="6019594" y="2470755"/>
            <a:ext cx="43361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EKF Algorithm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EKF performs state prediction and measurement update for nonlinear systems.</a:t>
            </a:r>
            <a:b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linearizes the motion and observation models using Jacobians, which makes it computationally efficient but less accurate under strong nonlinearity.</a:t>
            </a:r>
          </a:p>
          <a:p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C490E1-19F9-1D93-9700-6EE479D666EF}"/>
              </a:ext>
            </a:extLst>
          </p:cNvPr>
          <p:cNvSpPr txBox="1"/>
          <p:nvPr/>
        </p:nvSpPr>
        <p:spPr>
          <a:xfrm>
            <a:off x="3723384" y="539463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DABBBA-8590-C7CB-97FA-E4C1175785FD}"/>
              </a:ext>
            </a:extLst>
          </p:cNvPr>
          <p:cNvSpPr txBox="1"/>
          <p:nvPr/>
        </p:nvSpPr>
        <p:spPr>
          <a:xfrm>
            <a:off x="4032570" y="2256397"/>
            <a:ext cx="3012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zh-CN" altLang="en-US" sz="12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3DC31C6-A1B1-942B-5D53-8A6B154E9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34" y="259983"/>
            <a:ext cx="4016101" cy="633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2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ED17A-7DE5-07F1-DE75-2C9854B2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2F57E-6676-B741-CDAA-8CF881EF0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7041" y="1126329"/>
            <a:ext cx="4878191" cy="1174889"/>
          </a:xfrm>
          <a:noFill/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In-EKF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6C3701C-0428-48A0-AB79-DC25FF569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4A77A42-1DD6-1557-4FC2-CFBF73CF1947}"/>
              </a:ext>
            </a:extLst>
          </p:cNvPr>
          <p:cNvSpPr txBox="1"/>
          <p:nvPr/>
        </p:nvSpPr>
        <p:spPr>
          <a:xfrm>
            <a:off x="5782683" y="2713651"/>
            <a:ext cx="472778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InEKF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Algorithm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InEKF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combines IMU-based prediction with radar-based correction for state estimation.</a:t>
            </a:r>
            <a:b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formulating the error on Lie groups, it achieves better consistency and robustness than the standard EKF.</a:t>
            </a:r>
          </a:p>
          <a:p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B0B75B-2E19-3AB9-7EB8-C53C262AA784}"/>
              </a:ext>
            </a:extLst>
          </p:cNvPr>
          <p:cNvSpPr txBox="1"/>
          <p:nvPr/>
        </p:nvSpPr>
        <p:spPr>
          <a:xfrm>
            <a:off x="3723384" y="539463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70D78F-28EE-E881-3E1A-8D215598C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12" y="508252"/>
            <a:ext cx="4096407" cy="597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4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28687-E762-9C2B-FBE4-CFC07CB1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0392C-5976-7F51-DA6A-81CD176B5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5111" y="1066941"/>
            <a:ext cx="4878191" cy="1174889"/>
          </a:xfrm>
          <a:noFill/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UKF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E257942-5DF7-FBEE-F53E-2BA7C2AB1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1B39217-AC75-BC44-8A6B-4A47459CE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76" y="411016"/>
            <a:ext cx="4018167" cy="62016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486A4CC-B40C-5B92-F493-1C8BAAACB265}"/>
              </a:ext>
            </a:extLst>
          </p:cNvPr>
          <p:cNvSpPr txBox="1"/>
          <p:nvPr/>
        </p:nvSpPr>
        <p:spPr>
          <a:xfrm>
            <a:off x="5655111" y="2402725"/>
            <a:ext cx="46749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UKF Algorithm</a:t>
            </a:r>
          </a:p>
          <a:p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algorithm uses IMU data for prediction and radar ICP position measurements for correction.</a:t>
            </a:r>
            <a:b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propagating sigma points instead of linearizing the model, UKF provides a more accurate estimate under nonlinear dynamics.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30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7202F-384F-C0B5-FDEA-F66CCD57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B53BE-3032-A2BF-DEC2-AE00ABA4D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3138" y="990871"/>
            <a:ext cx="4878191" cy="1174889"/>
          </a:xfrm>
          <a:noFill/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PF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2B0944-CDAC-C728-7B71-2145ACEF1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84904D-1A0A-59E4-D8C2-C3DD42628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136" y="322847"/>
            <a:ext cx="3761066" cy="62734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526EFA1-7719-4A3F-17F1-9CA0FFF911E7}"/>
              </a:ext>
            </a:extLst>
          </p:cNvPr>
          <p:cNvSpPr txBox="1"/>
          <p:nvPr/>
        </p:nvSpPr>
        <p:spPr>
          <a:xfrm>
            <a:off x="5697191" y="2541597"/>
            <a:ext cx="50100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PF Algorithm</a:t>
            </a:r>
          </a:p>
          <a:p>
            <a:endParaRPr lang="en-US" altLang="zh-CN" sz="2000" dirty="0"/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algorithm first propagates particles using IMU measurements and then updates their weights based on ICP matching results.</a:t>
            </a:r>
            <a:b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Resampling is applied to keep high-likelihood particles, which improves robustness in complex environments.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3637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DD7C9-CA23-E837-A2F8-FDF0C202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A32154F-E69B-31D4-2D2E-DB73B2707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7E69B2C-E24C-9E44-3BA5-15350B5F0933}"/>
              </a:ext>
            </a:extLst>
          </p:cNvPr>
          <p:cNvSpPr txBox="1"/>
          <p:nvPr/>
        </p:nvSpPr>
        <p:spPr>
          <a:xfrm>
            <a:off x="2585357" y="142763"/>
            <a:ext cx="7021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zh-CN" alt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F1D7E0-EF6D-873B-DEF8-7A6614168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195" y="1589313"/>
            <a:ext cx="2035325" cy="13568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C1658D2-DF7F-1BDE-DEE6-4FA01722B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000" y="3102300"/>
            <a:ext cx="1691125" cy="16911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DC175C9-2B65-869B-E51D-7040F825E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997" y="1589313"/>
            <a:ext cx="1914006" cy="127600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078E0CE-C9FA-F78D-F8FF-03ADE3A37A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187" y="3102300"/>
            <a:ext cx="1691125" cy="168817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2EC43DD-7B2E-782F-499A-8D9B6DF21F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496" y="1530652"/>
            <a:ext cx="2218304" cy="147887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C7EC33F-0B4C-2259-4233-0EE81E1FE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317" y="3190345"/>
            <a:ext cx="1675120" cy="167219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860A08B-B194-6F2E-88DC-529B884CB4A0}"/>
              </a:ext>
            </a:extLst>
          </p:cNvPr>
          <p:cNvSpPr txBox="1"/>
          <p:nvPr/>
        </p:nvSpPr>
        <p:spPr>
          <a:xfrm>
            <a:off x="1609214" y="1158426"/>
            <a:ext cx="1224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ETH-1</a:t>
            </a:r>
            <a:endParaRPr lang="zh-CN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6BCF87-573C-90FD-DED3-349E0B031AD3}"/>
              </a:ext>
            </a:extLst>
          </p:cNvPr>
          <p:cNvSpPr txBox="1"/>
          <p:nvPr/>
        </p:nvSpPr>
        <p:spPr>
          <a:xfrm>
            <a:off x="5388429" y="1158426"/>
            <a:ext cx="1224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SPX-1</a:t>
            </a:r>
            <a:endParaRPr lang="zh-CN" altLang="en-US" sz="2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FBD4DD0-C373-0AC1-C198-6DF4D582859E}"/>
              </a:ext>
            </a:extLst>
          </p:cNvPr>
          <p:cNvSpPr txBox="1"/>
          <p:nvPr/>
        </p:nvSpPr>
        <p:spPr>
          <a:xfrm>
            <a:off x="8833757" y="1197889"/>
            <a:ext cx="122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SNOW-1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532937-B210-8CF6-0E5B-B161B3F1C60A}"/>
              </a:ext>
            </a:extLst>
          </p:cNvPr>
          <p:cNvSpPr txBox="1"/>
          <p:nvPr/>
        </p:nvSpPr>
        <p:spPr>
          <a:xfrm>
            <a:off x="1328057" y="4899354"/>
            <a:ext cx="92497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evaluate the proposed method on three challenging scenes: ETH-1, SPX-1, and SNOW-1.</a:t>
            </a:r>
            <a:b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results demonstrate robust performance and consistent geometric reconstruction under diverse environments.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60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96B7D-7C54-C10B-AE22-48AB9688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AD167DB-9617-B5DA-4F57-FFADB6CC9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FDBC2C4-4679-6C20-3060-1ECF26CA8936}"/>
              </a:ext>
            </a:extLst>
          </p:cNvPr>
          <p:cNvSpPr txBox="1"/>
          <p:nvPr/>
        </p:nvSpPr>
        <p:spPr>
          <a:xfrm>
            <a:off x="2585357" y="142763"/>
            <a:ext cx="7021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 comparison</a:t>
            </a:r>
            <a:endParaRPr lang="zh-CN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EB0138-B6C8-7D9D-3C7C-4FB583D0BA6B}"/>
              </a:ext>
            </a:extLst>
          </p:cNvPr>
          <p:cNvSpPr txBox="1"/>
          <p:nvPr/>
        </p:nvSpPr>
        <p:spPr>
          <a:xfrm>
            <a:off x="2133601" y="975639"/>
            <a:ext cx="1224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ETH-1</a:t>
            </a:r>
            <a:endParaRPr lang="zh-CN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633822-6453-E18B-BD87-A31EBB572956}"/>
              </a:ext>
            </a:extLst>
          </p:cNvPr>
          <p:cNvSpPr txBox="1"/>
          <p:nvPr/>
        </p:nvSpPr>
        <p:spPr>
          <a:xfrm>
            <a:off x="8833755" y="973760"/>
            <a:ext cx="122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SNOW-1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94428A-968E-DF59-FA58-01B82C285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214" y="1506963"/>
            <a:ext cx="2231265" cy="22148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6ADEC02-EA48-D926-3F14-F1FE3C932DBB}"/>
              </a:ext>
            </a:extLst>
          </p:cNvPr>
          <p:cNvSpPr txBox="1"/>
          <p:nvPr/>
        </p:nvSpPr>
        <p:spPr>
          <a:xfrm>
            <a:off x="5483678" y="989186"/>
            <a:ext cx="122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SPX-1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6F22829-D0BC-EBAD-C19E-F4DB728EE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123" y="1507109"/>
            <a:ext cx="2231266" cy="221471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1BA6AA-0A1B-A13B-F985-0A001395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1" y="1466203"/>
            <a:ext cx="2231265" cy="21986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36D4CAA-692E-FCB7-B672-0E4CC2140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289" y="3850016"/>
            <a:ext cx="2231265" cy="221802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BF7B372-8599-B590-CF42-DFC8A2997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123" y="3856462"/>
            <a:ext cx="2234551" cy="221802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B87643A1-F19B-6BF1-D857-F39D4ED5DD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3856462"/>
            <a:ext cx="2231265" cy="2211577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46DDAD26-B7A4-C8C8-454D-D5441A2AFBFA}"/>
              </a:ext>
            </a:extLst>
          </p:cNvPr>
          <p:cNvSpPr txBox="1"/>
          <p:nvPr/>
        </p:nvSpPr>
        <p:spPr>
          <a:xfrm>
            <a:off x="391886" y="2242382"/>
            <a:ext cx="1217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View</a:t>
            </a:r>
          </a:p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xy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08DBFB7-A175-1FBC-761A-28E6DEDE3001}"/>
              </a:ext>
            </a:extLst>
          </p:cNvPr>
          <p:cNvSpPr txBox="1"/>
          <p:nvPr/>
        </p:nvSpPr>
        <p:spPr>
          <a:xfrm>
            <a:off x="391886" y="4635861"/>
            <a:ext cx="1217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 View</a:t>
            </a:r>
          </a:p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xz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A08928-FE5B-3733-A9DD-7299F8D9C182}"/>
              </a:ext>
            </a:extLst>
          </p:cNvPr>
          <p:cNvSpPr txBox="1"/>
          <p:nvPr/>
        </p:nvSpPr>
        <p:spPr>
          <a:xfrm>
            <a:off x="1189517" y="6104790"/>
            <a:ext cx="8480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InEKF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the closest agreement with the ground truth, while EKF exhibits larger deviations, especially in more challenging scenes.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541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BA957-F08D-15B4-EF87-F3040948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5BD94F4-E16B-CA94-4BF7-8AFD4E6C2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8E79D48-526E-517F-9D49-C84DB3D18376}"/>
              </a:ext>
            </a:extLst>
          </p:cNvPr>
          <p:cNvSpPr txBox="1"/>
          <p:nvPr/>
        </p:nvSpPr>
        <p:spPr>
          <a:xfrm>
            <a:off x="2585357" y="142763"/>
            <a:ext cx="7021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&amp; Runtime comparison</a:t>
            </a:r>
            <a:endParaRPr lang="zh-CN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BE0DCD-5F8F-C894-8A60-502629F44802}"/>
              </a:ext>
            </a:extLst>
          </p:cNvPr>
          <p:cNvSpPr txBox="1"/>
          <p:nvPr/>
        </p:nvSpPr>
        <p:spPr>
          <a:xfrm>
            <a:off x="2133601" y="975639"/>
            <a:ext cx="1224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ETH-1</a:t>
            </a:r>
            <a:endParaRPr lang="zh-CN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682F5FB-749B-07D8-9BA4-16DC14E5187F}"/>
              </a:ext>
            </a:extLst>
          </p:cNvPr>
          <p:cNvSpPr txBox="1"/>
          <p:nvPr/>
        </p:nvSpPr>
        <p:spPr>
          <a:xfrm>
            <a:off x="8833755" y="973760"/>
            <a:ext cx="122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SNOW-1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05824A-E2DC-8BEE-37B2-AB0FE280AF29}"/>
              </a:ext>
            </a:extLst>
          </p:cNvPr>
          <p:cNvSpPr txBox="1"/>
          <p:nvPr/>
        </p:nvSpPr>
        <p:spPr>
          <a:xfrm>
            <a:off x="5483678" y="989186"/>
            <a:ext cx="122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SPX-1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F9191C-0FCF-E6DC-1A6E-A4D3230E0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40" y="1662388"/>
            <a:ext cx="2982233" cy="19391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03AEA7B-46B6-DCC3-1C1A-FBE693477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434" y="1662388"/>
            <a:ext cx="3197130" cy="20871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D7143EF-9E8E-EA3B-8C5F-E9E252081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077" y="1684197"/>
            <a:ext cx="3197131" cy="20435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989E1A9-C2DA-CB1A-0DC0-0C9245D5B4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18" y="3947472"/>
            <a:ext cx="3330478" cy="193488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992E594-C58F-D90A-BE62-4A523D712D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434" y="3947472"/>
            <a:ext cx="3330478" cy="189731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1BD4CBC-D1E7-9A2C-EA4C-C9CE5F8C93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8077" y="3965269"/>
            <a:ext cx="3197131" cy="186171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7CAA092-8B0F-5DB5-5AA2-C753D0802346}"/>
              </a:ext>
            </a:extLst>
          </p:cNvPr>
          <p:cNvSpPr txBox="1"/>
          <p:nvPr/>
        </p:nvSpPr>
        <p:spPr>
          <a:xfrm>
            <a:off x="942822" y="5935698"/>
            <a:ext cx="7890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further compare the filters in terms of trajectory error and computational cost across the three datasets.</a:t>
            </a:r>
            <a:b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InEKF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achieves the best overall trade-off between estimation accuracy and runtime efficiency.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73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54D45-2549-8661-4DB1-20387998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E37727B-D5D5-8FA4-9EB2-AE1BABB89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9D91683-F674-7F9B-D82E-B6AE28347809}"/>
              </a:ext>
            </a:extLst>
          </p:cNvPr>
          <p:cNvSpPr txBox="1"/>
          <p:nvPr/>
        </p:nvSpPr>
        <p:spPr>
          <a:xfrm>
            <a:off x="3997778" y="685800"/>
            <a:ext cx="41964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</a:t>
            </a:r>
            <a:endParaRPr lang="zh-CN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A75C0B-43CA-68C8-93FD-02FC594A3833}"/>
              </a:ext>
            </a:extLst>
          </p:cNvPr>
          <p:cNvSpPr txBox="1"/>
          <p:nvPr/>
        </p:nvSpPr>
        <p:spPr>
          <a:xfrm>
            <a:off x="780642" y="1721837"/>
            <a:ext cx="56104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1.InEKF performs better in accuracy and computational efficiency 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PF provides competitive accuracy, but its runtime is much higher.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EKF and UKF are more sensitive to nonlinear motion and degraded measurements</a:t>
            </a:r>
            <a:r>
              <a:rPr lang="en-US" altLang="zh-CN" sz="2400" dirty="0"/>
              <a:t>.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692B7D-EB35-BF4E-1DBF-270371CCA5FD}"/>
              </a:ext>
            </a:extLst>
          </p:cNvPr>
          <p:cNvSpPr txBox="1"/>
          <p:nvPr/>
        </p:nvSpPr>
        <p:spPr>
          <a:xfrm>
            <a:off x="780642" y="4549071"/>
            <a:ext cx="53153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 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dependence on LiDAR &amp; ICP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8BBB8C-A172-60DB-0CEE-FBAD08C3BB71}"/>
              </a:ext>
            </a:extLst>
          </p:cNvPr>
          <p:cNvSpPr txBox="1"/>
          <p:nvPr/>
        </p:nvSpPr>
        <p:spPr>
          <a:xfrm>
            <a:off x="6815614" y="1721837"/>
            <a:ext cx="447287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works: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additional sensing modalities, improve registration strategies, and incorporate contact-aware information.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01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BFC33-0286-EFBB-5000-50DE6CEF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1B95B4D-A374-BC10-26D3-C8624C84E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823" y="6259607"/>
            <a:ext cx="1675120" cy="33669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7A9662F-06DA-93C8-BBB9-3D9A4E1B3E6D}"/>
              </a:ext>
            </a:extLst>
          </p:cNvPr>
          <p:cNvSpPr txBox="1"/>
          <p:nvPr/>
        </p:nvSpPr>
        <p:spPr>
          <a:xfrm>
            <a:off x="3182566" y="2651864"/>
            <a:ext cx="582686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zh-CN" altLang="en-US" sz="9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CFFAF2-05DA-6F3F-0A06-1577B30C596A}"/>
              </a:ext>
            </a:extLst>
          </p:cNvPr>
          <p:cNvSpPr txBox="1"/>
          <p:nvPr/>
        </p:nvSpPr>
        <p:spPr>
          <a:xfrm>
            <a:off x="5089998" y="5515583"/>
            <a:ext cx="201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7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02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454</Words>
  <Application>Microsoft Office PowerPoint</Application>
  <PresentationFormat>宽屏</PresentationFormat>
  <Paragraphs>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Arial</vt:lpstr>
      <vt:lpstr>Calibri</vt:lpstr>
      <vt:lpstr>Cambria Math</vt:lpstr>
      <vt:lpstr>Office 主题​​</vt:lpstr>
      <vt:lpstr>Bayesian Filtering Approaches for 3D Localization of Quadruped Robots on the Grand Tour Dataset</vt:lpstr>
      <vt:lpstr>introduction</vt:lpstr>
      <vt:lpstr>PowerPoint 演示文稿</vt:lpstr>
      <vt:lpstr>EKF</vt:lpstr>
      <vt:lpstr>In-EKF</vt:lpstr>
      <vt:lpstr>UKF</vt:lpstr>
      <vt:lpstr>PF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俊贤 王</dc:creator>
  <cp:lastModifiedBy>Lin, Zexing</cp:lastModifiedBy>
  <cp:revision>3</cp:revision>
  <dcterms:created xsi:type="dcterms:W3CDTF">2026-04-20T05:39:12Z</dcterms:created>
  <dcterms:modified xsi:type="dcterms:W3CDTF">2026-04-21T02:11:51Z</dcterms:modified>
</cp:coreProperties>
</file>